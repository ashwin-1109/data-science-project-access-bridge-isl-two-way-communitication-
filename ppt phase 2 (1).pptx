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88" r:id="rId3"/>
    <p:sldId id="266" r:id="rId4"/>
    <p:sldId id="318" r:id="rId5"/>
    <p:sldId id="273" r:id="rId6"/>
    <p:sldId id="319" r:id="rId7"/>
    <p:sldId id="320" r:id="rId8"/>
    <p:sldId id="321" r:id="rId9"/>
    <p:sldId id="322" r:id="rId10"/>
    <p:sldId id="259" r:id="rId11"/>
    <p:sldId id="267" r:id="rId12"/>
    <p:sldId id="324" r:id="rId13"/>
    <p:sldId id="347" r:id="rId14"/>
    <p:sldId id="325" r:id="rId15"/>
    <p:sldId id="348" r:id="rId16"/>
    <p:sldId id="328" r:id="rId17"/>
    <p:sldId id="329" r:id="rId18"/>
    <p:sldId id="330" r:id="rId19"/>
    <p:sldId id="331" r:id="rId20"/>
    <p:sldId id="349" r:id="rId21"/>
    <p:sldId id="350" r:id="rId22"/>
    <p:sldId id="351" r:id="rId23"/>
    <p:sldId id="352" r:id="rId24"/>
    <p:sldId id="362" r:id="rId25"/>
    <p:sldId id="363" r:id="rId26"/>
    <p:sldId id="364" r:id="rId27"/>
    <p:sldId id="366" r:id="rId28"/>
    <p:sldId id="367" r:id="rId29"/>
    <p:sldId id="368" r:id="rId30"/>
    <p:sldId id="369" r:id="rId31"/>
    <p:sldId id="353" r:id="rId32"/>
    <p:sldId id="356" r:id="rId33"/>
    <p:sldId id="354" r:id="rId34"/>
    <p:sldId id="357" r:id="rId35"/>
    <p:sldId id="358" r:id="rId36"/>
    <p:sldId id="355" r:id="rId37"/>
    <p:sldId id="359" r:id="rId38"/>
    <p:sldId id="360" r:id="rId39"/>
    <p:sldId id="36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44" d="100"/>
          <a:sy n="44" d="100"/>
        </p:scale>
        <p:origin x="117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9F1F7-5A30-4BC5-AB27-703747ED80CC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2AB90-4B01-44E8-8114-F9122D79A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68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2AB90-4B01-44E8-8114-F9122D79A3B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565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6321-43A5-DCCB-6A7A-DF97494C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3A599-3E06-CDA9-41F6-DCE7CB6D2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C2857-4A3E-1D7D-6291-6BA8CD138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58ABF-5B0D-2DE5-8D68-F3819ACBF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2AB90-4B01-44E8-8114-F9122D79A3B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717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CE6B5-E08A-9194-8F4F-D473913F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10666-C299-5021-FAA8-7B5ECDFF1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39F3-DB15-45FF-8E07-2AC6568C1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47CA7-C5E0-EC43-9DFF-D89B793F8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2AB90-4B01-44E8-8114-F9122D79A3B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107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3457-2694-A136-870D-B117D333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F8F76-6798-0729-F5D4-9F4083274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860EE-3B10-5107-FE39-FDAC42158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8B7F9-5532-F233-E5E1-21C77668E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2AB90-4B01-44E8-8114-F9122D79A3B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50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3A3B-BC63-B9B8-948E-EF00C441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5BF67-B455-31F9-387A-2FE4A8B0D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23EB5-036C-B4CD-44DB-91860533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FE6D6-69BD-EB2D-FF3D-27493C6A9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2AB90-4B01-44E8-8114-F9122D79A3B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52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9F18-E05F-7943-0E5C-C4F4C5123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1D2CA-F16D-6974-3E01-90E8C8DA4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AF76F-3E33-8ABB-D0EC-8ACE3848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D61E-7D24-4910-9B6D-0BC9DC4D6860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F821B-E12F-7E6B-DC12-B1AD4B3B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E1C8C-9A80-B028-656C-3AB5E429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92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74E3-AD17-80C6-EFC3-CD76F8C6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E293-11B6-75FA-D026-612DC5EF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2A86D-409C-D546-E5F6-44092C49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EE064-6286-46CA-AE57-E5853AD361BA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F3A98-EB30-ED22-6C5F-E38DCEC6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30B8C-9884-63C9-073D-6F7A076D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7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D2C1-6130-2189-C57A-E69DD1B4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3106E-BBC4-3FE8-DA98-9CC0E1A7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4AAA0-2886-F162-1F42-11468AA0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8B08-6A70-4251-ACCE-3636211369C0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2FC2-E24F-C217-7AC2-49EACCA3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FD8D-37EA-3714-47F2-55C5760C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11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AAA57-F24F-C478-75EC-C2C1F775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2213-733E-04D9-0B85-33774B556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7BD63-960C-3272-22C8-B63290BE9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BD048-D054-D0D5-B033-2E0E76F0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268C-A999-48AA-950C-258F098285BA}" type="datetime3">
              <a:rPr lang="en-IN" smtClean="0"/>
              <a:t>6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B1486-66DC-DA77-AA58-A6F2D1E9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43CE6-0AA0-EBCE-D6C1-3FD7580E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2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51D1-42CA-66B3-2B78-9D0FF942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F46F6-A83F-7907-3FE9-F9B896D89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6284-2B62-25E6-EF0C-6E47E140B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CF225-F9FA-13D1-3AA0-BF058E4A9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DD8FD-4A4A-C6B8-B95E-C3EDD5C65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5C7B7-1015-BB94-9711-42481EE2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AE70-00A5-4C9E-8F9B-64A42C308F4C}" type="datetime3">
              <a:rPr lang="en-IN" smtClean="0"/>
              <a:t>6 August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F7D55-06DD-12AE-6482-09C99815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A9CCEE-EC0C-C5CF-31CA-5244F58A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7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89D6-AF79-6AD0-27D3-627F43D1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22994-34B7-B774-29FA-996C319F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D9A-FF45-4ED2-ABE1-857E9C5375BC}" type="datetime3">
              <a:rPr lang="en-IN" smtClean="0"/>
              <a:t>6 August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00C73-0167-B90F-E46B-C4051218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DBFD9-712C-8AE8-73FC-49069FA4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7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6990C-E0AA-6173-DEE1-E63021AD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18B5-4B95-4C49-9876-1BD7AA91789D}" type="datetime3">
              <a:rPr lang="en-IN" smtClean="0"/>
              <a:t>6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6935A-3E07-1709-E9D2-2C2721D6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38BE7-614A-A07B-5E6A-53AD4024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8280-A287-C520-5A3B-1B6E0D8F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D5AA6-CBD6-7F37-C25F-3E51D138C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B98B6-80B8-6327-537D-BBDDF883C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9C834-DABD-56A6-CD0B-3273801D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2E23-71DD-46A6-96C2-4B7FCCAA0E99}" type="datetime3">
              <a:rPr lang="en-IN" smtClean="0"/>
              <a:t>6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AEF9A-57E1-7AE2-56E5-9345E9F3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167EF-9FE8-C4C2-4EDF-7F7D2213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6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8316-9F4F-9089-9EA3-F9FA5F89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1B8D0-7834-A670-5804-839E032FC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9166D-27EA-142B-D07F-321CFBEAC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7D380-5295-C8F6-7B17-4D2ABE63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3132B-44FF-4D93-BDD2-1E9F587B2324}" type="datetime3">
              <a:rPr lang="en-IN" smtClean="0"/>
              <a:t>6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D0B6F-FC8D-2ED1-F439-29591D4F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A58D1-B3F6-9543-1558-31FACDC1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05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A4AE-3437-F0C5-CE6A-C6A95F07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2B83F-4A52-8CC3-01B5-1B7A540CF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7949-A0E2-67AA-8E7A-6F99DFB4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56DF-6BC9-48D2-81F7-4A798C5C540B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0C429-E53D-EBBC-9BCB-997783C0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C097-7F07-5CBD-6F24-FFAB18D4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26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CBCF0-6055-88C0-4A20-8D3A10D41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4AF22-9295-6610-EA16-939669ABF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68268-776F-CA58-8CA0-7F44938E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63F2-1007-4D76-8AFB-7049811622CE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75A2B-0EB3-0F25-2F08-711850E5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B4777-1237-EEDD-27E7-63C0B792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05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5893A-65B7-B68A-A7A4-CFBFDE586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704C0-6794-1FF1-B5BD-2BD726AB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1145-61AE-D07E-ACDC-8DB7304C7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B527B-EC16-44E4-86DB-023600065A13}" type="datetime3">
              <a:rPr lang="en-IN" smtClean="0"/>
              <a:t>6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AAD47-4B73-5276-75B6-42670B099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4457-598B-3F67-E79A-452374C0E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B9228-BA8F-415A-9FB8-23BEB3CE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9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3374-D468-7AB0-6089-9211EAF82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567" y="465221"/>
            <a:ext cx="10449233" cy="305390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TASK OFFLOADING IN AUTONOMOUS VEHICULAR NETWORKS USING MULTI-AGENT REINFORCEMENT LEARNING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F602D-C0C7-7482-31E2-E80045202014}"/>
              </a:ext>
            </a:extLst>
          </p:cNvPr>
          <p:cNvSpPr txBox="1"/>
          <p:nvPr/>
        </p:nvSpPr>
        <p:spPr>
          <a:xfrm>
            <a:off x="1249024" y="4532671"/>
            <a:ext cx="4365523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27C27-32AE-915E-DF69-06140F65DD30}"/>
              </a:ext>
            </a:extLst>
          </p:cNvPr>
          <p:cNvSpPr txBox="1"/>
          <p:nvPr/>
        </p:nvSpPr>
        <p:spPr>
          <a:xfrm>
            <a:off x="7944465" y="4532671"/>
            <a:ext cx="300867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Mahil, M.E,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(CSE)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716E2-1CFC-DE82-71DC-3F68041B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8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4900-B7CE-A0DF-5BBE-2D36F1C1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506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F10D9-A867-B2DF-39BF-78699CD8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8175A2-59A6-C72A-BD3B-6022DE8F5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7740" y="1020865"/>
            <a:ext cx="11209131" cy="5079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need to process data quickly to drive safely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perform tasks like: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objects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driving decisions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tasks require high computation, but vehicles have limited resources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tasks are offloaded to: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edge servers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 is: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process each task?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decision is needed to reduce delay and save energy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ED181A9-7194-C17A-F06C-7D8730212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0632"/>
            <a:ext cx="45719" cy="425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57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B760-5F2A-0B5E-73C0-7E5213A5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3204"/>
            <a:ext cx="11988800" cy="79248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2FE6A-1ECA-96EA-E36D-3C610DB0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6B1003-BA74-2905-82C9-B879E2A301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77830" y="8124109"/>
            <a:ext cx="955577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4EABB2-EE6C-E98D-3B6F-F344B6FD0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97983"/>
            <a:ext cx="10952480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(AVs) generate large amounts of data that must be processed in real time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Due to limited onboard resources, tasks are offloaded to: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Local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Servers 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challenge is to decide where to process each task efficiently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Reinforcement Learning (RL) for intelligent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35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3105D-0A64-A417-CFB3-8D9FB52B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4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1563C-7068-357D-5858-652FC33706A6}"/>
              </a:ext>
            </a:extLst>
          </p:cNvPr>
          <p:cNvSpPr txBox="1"/>
          <p:nvPr/>
        </p:nvSpPr>
        <p:spPr>
          <a:xfrm>
            <a:off x="838200" y="1056689"/>
            <a:ext cx="10828283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methods are implemented: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Proximal Policy Optimization (MAPPO)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realistic simulation is developed using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Urban Mobility (SUMO)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that: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Proximal Policy Optimization (MAPPO) achieves lowest latency and energy consumption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best overall system performance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BF048-7F96-C233-5A7D-6F53A684FBF5}"/>
              </a:ext>
            </a:extLst>
          </p:cNvPr>
          <p:cNvSpPr txBox="1"/>
          <p:nvPr/>
        </p:nvSpPr>
        <p:spPr>
          <a:xfrm>
            <a:off x="1011094" y="287248"/>
            <a:ext cx="99769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9363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963DED-2732-9BE3-2234-6FC968D6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5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9400D-3B13-5F37-347D-5481F7B23176}"/>
              </a:ext>
            </a:extLst>
          </p:cNvPr>
          <p:cNvSpPr txBox="1"/>
          <p:nvPr/>
        </p:nvSpPr>
        <p:spPr>
          <a:xfrm>
            <a:off x="2839824" y="216736"/>
            <a:ext cx="6954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054C48-F989-8C5C-F313-01008F8EB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922114"/>
              </p:ext>
            </p:extLst>
          </p:nvPr>
        </p:nvGraphicFramePr>
        <p:xfrm>
          <a:off x="0" y="1411704"/>
          <a:ext cx="12191999" cy="5598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715">
                  <a:extLst>
                    <a:ext uri="{9D8B030D-6E8A-4147-A177-3AD203B41FA5}">
                      <a16:colId xmlns:a16="http://schemas.microsoft.com/office/drawing/2014/main" val="1149897327"/>
                    </a:ext>
                  </a:extLst>
                </a:gridCol>
                <a:gridCol w="3229669">
                  <a:extLst>
                    <a:ext uri="{9D8B030D-6E8A-4147-A177-3AD203B41FA5}">
                      <a16:colId xmlns:a16="http://schemas.microsoft.com/office/drawing/2014/main" val="3708291024"/>
                    </a:ext>
                  </a:extLst>
                </a:gridCol>
                <a:gridCol w="2765403">
                  <a:extLst>
                    <a:ext uri="{9D8B030D-6E8A-4147-A177-3AD203B41FA5}">
                      <a16:colId xmlns:a16="http://schemas.microsoft.com/office/drawing/2014/main" val="703523672"/>
                    </a:ext>
                  </a:extLst>
                </a:gridCol>
                <a:gridCol w="2624106">
                  <a:extLst>
                    <a:ext uri="{9D8B030D-6E8A-4147-A177-3AD203B41FA5}">
                      <a16:colId xmlns:a16="http://schemas.microsoft.com/office/drawing/2014/main" val="2791573892"/>
                    </a:ext>
                  </a:extLst>
                </a:gridCol>
                <a:gridCol w="2624106">
                  <a:extLst>
                    <a:ext uri="{9D8B030D-6E8A-4147-A177-3AD203B41FA5}">
                      <a16:colId xmlns:a16="http://schemas.microsoft.com/office/drawing/2014/main" val="3057808461"/>
                    </a:ext>
                  </a:extLst>
                </a:gridCol>
              </a:tblGrid>
              <a:tr h="1089449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68272"/>
                  </a:ext>
                </a:extLst>
              </a:tr>
              <a:tr h="4509246">
                <a:tc>
                  <a:txBody>
                    <a:bodyPr/>
                    <a:lstStyle/>
                    <a:p>
                      <a:r>
                        <a:rPr lang="en-IN" sz="20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Reinforcement Learning in IoT: Applications, Opportunities and Open Challenges, </a:t>
                      </a:r>
                      <a:r>
                        <a:rPr lang="en-US" sz="2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</a:t>
                      </a:r>
                      <a:r>
                        <a:rPr lang="en-US" sz="2000" dirty="0"/>
                        <a:t>, vol. 13, no. 11, p. 6497, June 2023.</a:t>
                      </a:r>
                      <a:br>
                        <a:rPr lang="en-US" sz="2000" dirty="0"/>
                      </a:br>
                      <a:r>
                        <a:rPr lang="en-US" sz="2000" b="1" dirty="0"/>
                        <a:t>Authors:</a:t>
                      </a:r>
                      <a:r>
                        <a:rPr lang="en-US" sz="2000" dirty="0"/>
                        <a:t> E. C. Pinto Neto, S. Sadeghi, X. Zhang, and S. Dadkhah.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Learning (FL) and Reinforcement Learning (RL) 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Preserves privacy by sharing only model parameters.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collaboration among distributed IoT nodes.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communication cost between FL and RL layers.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explicit energy optimization mechanism.</a:t>
                      </a:r>
                    </a:p>
                    <a:p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3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80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C3D-169D-08B2-D910-1AEFB41F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14B8F-0B0B-E853-C9AA-AB054C77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52004-2A7A-3491-CBEA-FDAE0D842231}"/>
              </a:ext>
            </a:extLst>
          </p:cNvPr>
          <p:cNvSpPr txBox="1"/>
          <p:nvPr/>
        </p:nvSpPr>
        <p:spPr>
          <a:xfrm>
            <a:off x="2839824" y="216736"/>
            <a:ext cx="6954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57CE4A-CD5D-0F05-AD87-DAB09CEF5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62371"/>
              </p:ext>
            </p:extLst>
          </p:nvPr>
        </p:nvGraphicFramePr>
        <p:xfrm>
          <a:off x="0" y="1411705"/>
          <a:ext cx="12192001" cy="5446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818">
                  <a:extLst>
                    <a:ext uri="{9D8B030D-6E8A-4147-A177-3AD203B41FA5}">
                      <a16:colId xmlns:a16="http://schemas.microsoft.com/office/drawing/2014/main" val="1149897327"/>
                    </a:ext>
                  </a:extLst>
                </a:gridCol>
                <a:gridCol w="3211652">
                  <a:extLst>
                    <a:ext uri="{9D8B030D-6E8A-4147-A177-3AD203B41FA5}">
                      <a16:colId xmlns:a16="http://schemas.microsoft.com/office/drawing/2014/main" val="3708291024"/>
                    </a:ext>
                  </a:extLst>
                </a:gridCol>
                <a:gridCol w="3007087">
                  <a:extLst>
                    <a:ext uri="{9D8B030D-6E8A-4147-A177-3AD203B41FA5}">
                      <a16:colId xmlns:a16="http://schemas.microsoft.com/office/drawing/2014/main" val="703523672"/>
                    </a:ext>
                  </a:extLst>
                </a:gridCol>
                <a:gridCol w="2454766">
                  <a:extLst>
                    <a:ext uri="{9D8B030D-6E8A-4147-A177-3AD203B41FA5}">
                      <a16:colId xmlns:a16="http://schemas.microsoft.com/office/drawing/2014/main" val="2791573892"/>
                    </a:ext>
                  </a:extLst>
                </a:gridCol>
                <a:gridCol w="2495678">
                  <a:extLst>
                    <a:ext uri="{9D8B030D-6E8A-4147-A177-3AD203B41FA5}">
                      <a16:colId xmlns:a16="http://schemas.microsoft.com/office/drawing/2014/main" val="3057808461"/>
                    </a:ext>
                  </a:extLst>
                </a:gridCol>
              </a:tblGrid>
              <a:tr h="865006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68272"/>
                  </a:ext>
                </a:extLst>
              </a:tr>
              <a:tr h="4581289">
                <a:tc>
                  <a:txBody>
                    <a:bodyPr/>
                    <a:lstStyle/>
                    <a:p>
                      <a:r>
                        <a:rPr lang="en-IN" sz="20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Learning-Oriented Edge Computing Framework for the Industrial Internet of Things, </a:t>
                      </a:r>
                      <a:r>
                        <a:rPr lang="en-US" sz="2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vol. 24, no. 13, p. 4182, July 2024.</a:t>
                      </a:r>
                      <a:br>
                        <a:rPr lang="en-US" sz="2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Y. Li, H. Chen, X. Wang, and L. Zhou.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Three-layer Edge–Cloud architecture using </a:t>
                      </a:r>
                      <a:r>
                        <a:rPr lang="en-US" sz="2000" b="0" dirty="0" err="1"/>
                        <a:t>FedAvg</a:t>
                      </a:r>
                      <a:r>
                        <a:rPr lang="en-US" sz="2000" b="0" dirty="0"/>
                        <a:t> algorithm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Reduces latency and bandwidth usage.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Maintains privacy during collaborative model updates.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Focused mainly on architecture, not predictive maintenance.</a:t>
                      </a:r>
                    </a:p>
                    <a:p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/>
                        <a:t>Did not include reinforcement learning or energy management.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3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4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E14F-340E-D9D8-7CD4-37C2F3D0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6FDF9-6008-FE73-3A19-777EEDC1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E11E9-B259-7230-F9D9-B110A47EAA61}"/>
              </a:ext>
            </a:extLst>
          </p:cNvPr>
          <p:cNvSpPr txBox="1"/>
          <p:nvPr/>
        </p:nvSpPr>
        <p:spPr>
          <a:xfrm>
            <a:off x="2839824" y="216736"/>
            <a:ext cx="6954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578FA8-389A-2A5A-9991-2055CC1DD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916095"/>
              </p:ext>
            </p:extLst>
          </p:nvPr>
        </p:nvGraphicFramePr>
        <p:xfrm>
          <a:off x="0" y="1411705"/>
          <a:ext cx="12192000" cy="59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344">
                  <a:extLst>
                    <a:ext uri="{9D8B030D-6E8A-4147-A177-3AD203B41FA5}">
                      <a16:colId xmlns:a16="http://schemas.microsoft.com/office/drawing/2014/main" val="1149897327"/>
                    </a:ext>
                  </a:extLst>
                </a:gridCol>
                <a:gridCol w="3177915">
                  <a:extLst>
                    <a:ext uri="{9D8B030D-6E8A-4147-A177-3AD203B41FA5}">
                      <a16:colId xmlns:a16="http://schemas.microsoft.com/office/drawing/2014/main" val="3708291024"/>
                    </a:ext>
                  </a:extLst>
                </a:gridCol>
                <a:gridCol w="2898098">
                  <a:extLst>
                    <a:ext uri="{9D8B030D-6E8A-4147-A177-3AD203B41FA5}">
                      <a16:colId xmlns:a16="http://schemas.microsoft.com/office/drawing/2014/main" val="703523672"/>
                    </a:ext>
                  </a:extLst>
                </a:gridCol>
                <a:gridCol w="2658255">
                  <a:extLst>
                    <a:ext uri="{9D8B030D-6E8A-4147-A177-3AD203B41FA5}">
                      <a16:colId xmlns:a16="http://schemas.microsoft.com/office/drawing/2014/main" val="2791573892"/>
                    </a:ext>
                  </a:extLst>
                </a:gridCol>
                <a:gridCol w="2458388">
                  <a:extLst>
                    <a:ext uri="{9D8B030D-6E8A-4147-A177-3AD203B41FA5}">
                      <a16:colId xmlns:a16="http://schemas.microsoft.com/office/drawing/2014/main" val="3057808461"/>
                    </a:ext>
                  </a:extLst>
                </a:gridCol>
              </a:tblGrid>
              <a:tr h="1347537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68272"/>
                  </a:ext>
                </a:extLst>
              </a:tr>
              <a:tr h="4581289">
                <a:tc>
                  <a:txBody>
                    <a:bodyPr/>
                    <a:lstStyle/>
                    <a:p>
                      <a:r>
                        <a:rPr lang="en-IN" sz="20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and Edge Computing for Machine Maintenance – </a:t>
                      </a: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Review, Artificial Intelligence Review</a:t>
                      </a:r>
                      <a:r>
                        <a:rPr lang="en-US" sz="2000" dirty="0"/>
                        <a:t>, vol. 57, pp. 11823–11859, Jan. 2024.</a:t>
                      </a:r>
                      <a:br>
                        <a:rPr lang="en-US" sz="2000" dirty="0"/>
                      </a:br>
                      <a:r>
                        <a:rPr lang="en-US" sz="2000" b="1" dirty="0"/>
                        <a:t>Authors:</a:t>
                      </a:r>
                      <a:r>
                        <a:rPr lang="en-US" sz="2000" dirty="0"/>
                        <a:t> R. Gupta, A. Singh, and D. Patel.</a:t>
                      </a:r>
                    </a:p>
                    <a:p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/>
                        <a:t>AI-based models such as CNN, LSTM, and Autoencoders 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Strong review linking </a:t>
                      </a:r>
                      <a:r>
                        <a:rPr lang="en-US" sz="2000" dirty="0" err="1"/>
                        <a:t>AI,Edge</a:t>
                      </a:r>
                      <a:r>
                        <a:rPr lang="en-US" sz="2000" dirty="0"/>
                        <a:t> Computing, and Maintenance.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dirty="0"/>
                        <a:t>Highlights the advantages of local learning for fast fault detection.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No integration of Federated or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/>
                        <a:t>Reinforcemet</a:t>
                      </a:r>
                      <a:r>
                        <a:rPr lang="en-US" sz="2000" dirty="0"/>
                        <a:t> Learning.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The study remains theoretical without an implemented energy model.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3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0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D5F4-5926-54FE-A4CA-01BC233B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A0F528-896A-F6EF-9C33-C3065EF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3A542-E1AF-D528-2230-79C44401D19D}"/>
              </a:ext>
            </a:extLst>
          </p:cNvPr>
          <p:cNvSpPr txBox="1"/>
          <p:nvPr/>
        </p:nvSpPr>
        <p:spPr>
          <a:xfrm>
            <a:off x="2839824" y="216736"/>
            <a:ext cx="6954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627334-2BEA-867B-4E1F-BB8F7909B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827689"/>
              </p:ext>
            </p:extLst>
          </p:nvPr>
        </p:nvGraphicFramePr>
        <p:xfrm>
          <a:off x="0" y="1411705"/>
          <a:ext cx="12192000" cy="59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344">
                  <a:extLst>
                    <a:ext uri="{9D8B030D-6E8A-4147-A177-3AD203B41FA5}">
                      <a16:colId xmlns:a16="http://schemas.microsoft.com/office/drawing/2014/main" val="1149897327"/>
                    </a:ext>
                  </a:extLst>
                </a:gridCol>
                <a:gridCol w="3057993">
                  <a:extLst>
                    <a:ext uri="{9D8B030D-6E8A-4147-A177-3AD203B41FA5}">
                      <a16:colId xmlns:a16="http://schemas.microsoft.com/office/drawing/2014/main" val="3708291024"/>
                    </a:ext>
                  </a:extLst>
                </a:gridCol>
                <a:gridCol w="3018020">
                  <a:extLst>
                    <a:ext uri="{9D8B030D-6E8A-4147-A177-3AD203B41FA5}">
                      <a16:colId xmlns:a16="http://schemas.microsoft.com/office/drawing/2014/main" val="703523672"/>
                    </a:ext>
                  </a:extLst>
                </a:gridCol>
                <a:gridCol w="2658256">
                  <a:extLst>
                    <a:ext uri="{9D8B030D-6E8A-4147-A177-3AD203B41FA5}">
                      <a16:colId xmlns:a16="http://schemas.microsoft.com/office/drawing/2014/main" val="2791573892"/>
                    </a:ext>
                  </a:extLst>
                </a:gridCol>
                <a:gridCol w="2458387">
                  <a:extLst>
                    <a:ext uri="{9D8B030D-6E8A-4147-A177-3AD203B41FA5}">
                      <a16:colId xmlns:a16="http://schemas.microsoft.com/office/drawing/2014/main" val="3057808461"/>
                    </a:ext>
                  </a:extLst>
                </a:gridCol>
              </a:tblGrid>
              <a:tr h="1347537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68272"/>
                  </a:ext>
                </a:extLst>
              </a:tr>
              <a:tr h="4581289">
                <a:tc>
                  <a:txBody>
                    <a:bodyPr/>
                    <a:lstStyle/>
                    <a:p>
                      <a:r>
                        <a:rPr lang="en-IN" sz="20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Aggregation Strategy on Federated Machine Learning Algorithm for Collaborative Predictive Maintenance</a:t>
                      </a: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IEEE Access, vol. 12, pp. 67124–67139, Aug. 2024.</a:t>
                      </a:r>
                      <a:b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</a:t>
                      </a: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S. K. Reddy and M. K. Chakraborty.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 aggregation methods (</a:t>
                      </a:r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FedAvg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FedProx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FedSVM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comparative analysis of FL aggregation algorithms.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improved accuracy and communication efficiency.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and task scheduling not considered.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Did not include RL or hybrid deep models (LSTM-GRU-Attention).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3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812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6701-F7B9-A48F-593B-F0045C69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50E0D-DDE4-99A3-A380-9E1F8062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CA6C5-30B9-8A54-4C7D-B864BB56F844}"/>
              </a:ext>
            </a:extLst>
          </p:cNvPr>
          <p:cNvSpPr txBox="1"/>
          <p:nvPr/>
        </p:nvSpPr>
        <p:spPr>
          <a:xfrm>
            <a:off x="2839824" y="216736"/>
            <a:ext cx="6954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F1F120-D9AB-DEDC-988B-108B73E8C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00743"/>
              </p:ext>
            </p:extLst>
          </p:nvPr>
        </p:nvGraphicFramePr>
        <p:xfrm>
          <a:off x="0" y="1106960"/>
          <a:ext cx="12070080" cy="59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350">
                  <a:extLst>
                    <a:ext uri="{9D8B030D-6E8A-4147-A177-3AD203B41FA5}">
                      <a16:colId xmlns:a16="http://schemas.microsoft.com/office/drawing/2014/main" val="1149897327"/>
                    </a:ext>
                  </a:extLst>
                </a:gridCol>
                <a:gridCol w="3146136">
                  <a:extLst>
                    <a:ext uri="{9D8B030D-6E8A-4147-A177-3AD203B41FA5}">
                      <a16:colId xmlns:a16="http://schemas.microsoft.com/office/drawing/2014/main" val="3708291024"/>
                    </a:ext>
                  </a:extLst>
                </a:gridCol>
                <a:gridCol w="2869118">
                  <a:extLst>
                    <a:ext uri="{9D8B030D-6E8A-4147-A177-3AD203B41FA5}">
                      <a16:colId xmlns:a16="http://schemas.microsoft.com/office/drawing/2014/main" val="703523672"/>
                    </a:ext>
                  </a:extLst>
                </a:gridCol>
                <a:gridCol w="2631673">
                  <a:extLst>
                    <a:ext uri="{9D8B030D-6E8A-4147-A177-3AD203B41FA5}">
                      <a16:colId xmlns:a16="http://schemas.microsoft.com/office/drawing/2014/main" val="2791573892"/>
                    </a:ext>
                  </a:extLst>
                </a:gridCol>
                <a:gridCol w="2433803">
                  <a:extLst>
                    <a:ext uri="{9D8B030D-6E8A-4147-A177-3AD203B41FA5}">
                      <a16:colId xmlns:a16="http://schemas.microsoft.com/office/drawing/2014/main" val="3057808461"/>
                    </a:ext>
                  </a:extLst>
                </a:gridCol>
              </a:tblGrid>
              <a:tr h="1347537">
                <a:tc>
                  <a:txBody>
                    <a:bodyPr/>
                    <a:lstStyle/>
                    <a:p>
                      <a:r>
                        <a:rPr lang="en-IN" sz="20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68272"/>
                  </a:ext>
                </a:extLst>
              </a:tr>
              <a:tr h="4581289">
                <a:tc>
                  <a:txBody>
                    <a:bodyPr/>
                    <a:lstStyle/>
                    <a:p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Federated Machine Learning in Predictive Maintenance of Jet Engines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preprint arXiv:2502.05321, Feb. 2025.</a:t>
                      </a:r>
                      <a:b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A. M. Barbosa, T. V. N. Ngo, E. </a:t>
                      </a:r>
                      <a:r>
                        <a:rPr lang="en-IN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Jafarigol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T. B. </a:t>
                      </a:r>
                      <a:r>
                        <a:rPr lang="en-IN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Trafalis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E. P. </a:t>
                      </a:r>
                      <a:r>
                        <a:rPr lang="en-IN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Ojoboh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LSTM models &amp; </a:t>
                      </a:r>
                      <a:r>
                        <a:rPr lang="en-IN" sz="20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FedAvg</a:t>
                      </a:r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aggregation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applicable to aerospace maintenance and RUL prediction.</a:t>
                      </a:r>
                      <a:b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FL’s privacy-preserving advantage.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reinforcement learning or energy optimization.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b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FL without task scheduling or communication control.</a:t>
                      </a:r>
                      <a:endParaRPr lang="en-IN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3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44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DF75A7E-2672-F509-CBF9-5F95036A8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3292"/>
            <a:ext cx="12090400" cy="75365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0914C-6B8A-DC9F-1778-8ED51C86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10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130836-1F78-A537-DD63-21C665B6981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9760" y="3288203"/>
            <a:ext cx="109524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B1027DE-93A3-315C-3BA2-604E1F8902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9760" y="1422478"/>
            <a:ext cx="1095248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task offloading system for Autonomous Vehicles using Reinforcement Learning.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minimize latency and energy consumption for efficient task execution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Rule-Based, Deep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Q-Network (DQN),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Multi-Agent Proximal Policy Optimization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(MAPPO)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</a:p>
        </p:txBody>
      </p:sp>
    </p:spTree>
    <p:extLst>
      <p:ext uri="{BB962C8B-B14F-4D97-AF65-F5344CB8AC3E}">
        <p14:creationId xmlns:p14="http://schemas.microsoft.com/office/powerpoint/2010/main" val="24850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D5D3-D0A8-1821-226B-357AD123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442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BBB4-D3DF-9624-C3FB-2D84DC6C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11</a:t>
            </a:fld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D3FC8A-236E-7577-BA59-B109614FE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57141"/>
          <a:stretch>
            <a:fillRect/>
          </a:stretch>
        </p:blipFill>
        <p:spPr>
          <a:xfrm>
            <a:off x="3037840" y="1044614"/>
            <a:ext cx="5842000" cy="567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2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E3D5-2745-ED33-E855-14F55D38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8658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SUMO SIMULATION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887DB-8BAB-930B-1A8F-8D358521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D53AC-CDE5-4924-47CF-F6B7B233D328}"/>
              </a:ext>
            </a:extLst>
          </p:cNvPr>
          <p:cNvSpPr txBox="1"/>
          <p:nvPr/>
        </p:nvSpPr>
        <p:spPr>
          <a:xfrm>
            <a:off x="759460" y="1553061"/>
            <a:ext cx="106730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199ED74-8A23-7841-02F8-5BDBEC56B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" y="1412150"/>
            <a:ext cx="113588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Urban Mobility (SUMO) is a traffic simulation tool used to create a real-world driving environment . In project, I used  Tirunelveli city map from OpenStreetMap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includes roads, signals, and intersections. This Vehicles are generated with different speeds and routes. Each vehicle moves dynamically and behaves like a real vehicle 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continuously generate tasks like object detection , lane detection and HD map display.  This helps to test the system in a realistic scenario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204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90D2-562D-2D67-C145-AAF0CD65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44805"/>
            <a:ext cx="109474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TIRUNELVELI MAP AND CAR GENERATION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58B9F-F368-67BB-D255-D3E3154D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516D7-B044-15FF-2B4F-6B14FFFDB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64"/>
          <a:stretch>
            <a:fillRect/>
          </a:stretch>
        </p:blipFill>
        <p:spPr>
          <a:xfrm>
            <a:off x="787401" y="1595279"/>
            <a:ext cx="4729479" cy="4836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5CD0AA-3C30-4F50-2779-F42C77413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99" b="25227"/>
          <a:stretch>
            <a:fillRect/>
          </a:stretch>
        </p:blipFill>
        <p:spPr>
          <a:xfrm>
            <a:off x="6095999" y="1595278"/>
            <a:ext cx="5308599" cy="460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1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5B25-AD4B-B540-18DD-AC2F0B44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68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COLLECTION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C5F31-2E1D-C994-1A32-4FAFDE46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5185D-7FC2-AE4A-974F-467B43BB17FF}"/>
              </a:ext>
            </a:extLst>
          </p:cNvPr>
          <p:cNvSpPr txBox="1"/>
          <p:nvPr/>
        </p:nvSpPr>
        <p:spPr>
          <a:xfrm>
            <a:off x="721360" y="1115695"/>
            <a:ext cx="10749280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collected at every time step from each vehicle and It includes vehicle details like ID, speed, and task type.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records the decision taken (Local / Edge / Cloud)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values like latency and energy are measured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 value is calculated based on system performance and It also tracks whether the task is successful or missed deadline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data is stored in CSV format for analysis </a:t>
            </a:r>
          </a:p>
        </p:txBody>
      </p:sp>
    </p:spTree>
    <p:extLst>
      <p:ext uri="{BB962C8B-B14F-4D97-AF65-F5344CB8AC3E}">
        <p14:creationId xmlns:p14="http://schemas.microsoft.com/office/powerpoint/2010/main" val="223857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7BDF-9024-C4FA-E27F-66245011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676C1-7F97-913D-029F-D0561B4F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CC19B-766A-1A7B-74DE-3CD76E833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89" y="1467696"/>
            <a:ext cx="9545382" cy="502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CFF2-E6C3-F1A9-5587-E5F5CB58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ALGORITHM USED: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FD0BF-36E9-4E6F-2444-CE5117E5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A275206-4C18-3C11-3DCA-67D5A2CED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" y="1513923"/>
            <a:ext cx="1104392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methods are used to compare performance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method follows fixed rules and does not learn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(Deep Q-Network) learns from experience using neural networks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Proximal Policy Optimization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allows multiple vehicles to learn together and MAPPO improves coordination between vehicles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find which method performs best </a:t>
            </a:r>
          </a:p>
        </p:txBody>
      </p:sp>
    </p:spTree>
    <p:extLst>
      <p:ext uri="{BB962C8B-B14F-4D97-AF65-F5344CB8AC3E}">
        <p14:creationId xmlns:p14="http://schemas.microsoft.com/office/powerpoint/2010/main" val="117372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95EF-6024-C6FB-7841-4EF92577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539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TASK OFFLOADING DECESION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F4CE5-4878-95C6-3AE8-F8729AD1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17</a:t>
            </a:fld>
            <a:endParaRPr lang="en-IN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5A50CDA-D487-8E7E-B7AC-191DCA85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91916"/>
            <a:ext cx="10804635" cy="418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vehicle must decide where to process its task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is based on system conditions like speed and network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options: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 inside the vehicle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server processing (nearby RSU)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processing (remote server)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selects the best option to reduce delay and energy </a:t>
            </a:r>
          </a:p>
        </p:txBody>
      </p:sp>
    </p:spTree>
    <p:extLst>
      <p:ext uri="{BB962C8B-B14F-4D97-AF65-F5344CB8AC3E}">
        <p14:creationId xmlns:p14="http://schemas.microsoft.com/office/powerpoint/2010/main" val="859685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95441-9417-3DF5-B274-DAEFFAFD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36BB0-DDF0-0C3B-C0FD-1624FF821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78" y="647312"/>
            <a:ext cx="7210097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0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019D-D536-95FD-9A39-F757154D8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957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BB57B-7313-8173-7D78-6E6806E8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19</a:t>
            </a:fld>
            <a:endParaRPr lang="en-IN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C25DC777-3BAF-CCE7-7AE4-70A189CD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47517"/>
            <a:ext cx="1022919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 means how much time is taken to complete a task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shows how much power is used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 shows overall system performance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 rate shows how many tasks are completed successfully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Deadline violation shows how many tasks missed the time limit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help compare different methods </a:t>
            </a:r>
          </a:p>
        </p:txBody>
      </p:sp>
    </p:spTree>
    <p:extLst>
      <p:ext uri="{BB962C8B-B14F-4D97-AF65-F5344CB8AC3E}">
        <p14:creationId xmlns:p14="http://schemas.microsoft.com/office/powerpoint/2010/main" val="239098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ABD7-8476-89B5-898C-5C1BB502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8893-4F6E-B189-0870-65B11EE9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957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3E627-4D35-D667-4B71-42F17F55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E0B53-FD7D-F8DE-2527-AE8BDD43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68" y="1517291"/>
            <a:ext cx="9311608" cy="496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39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0A13-C180-07DB-5980-B3F933BF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FINAL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426CE-A5E5-D3E8-A739-DBBFDA61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21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ACC996-101E-292D-CB00-EC8DF7B53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420329"/>
              </p:ext>
            </p:extLst>
          </p:nvPr>
        </p:nvGraphicFramePr>
        <p:xfrm>
          <a:off x="756920" y="1853248"/>
          <a:ext cx="9961881" cy="33080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28274">
                  <a:extLst>
                    <a:ext uri="{9D8B030D-6E8A-4147-A177-3AD203B41FA5}">
                      <a16:colId xmlns:a16="http://schemas.microsoft.com/office/drawing/2014/main" val="1311494086"/>
                    </a:ext>
                  </a:extLst>
                </a:gridCol>
                <a:gridCol w="1731467">
                  <a:extLst>
                    <a:ext uri="{9D8B030D-6E8A-4147-A177-3AD203B41FA5}">
                      <a16:colId xmlns:a16="http://schemas.microsoft.com/office/drawing/2014/main" val="176839897"/>
                    </a:ext>
                  </a:extLst>
                </a:gridCol>
                <a:gridCol w="1555294">
                  <a:extLst>
                    <a:ext uri="{9D8B030D-6E8A-4147-A177-3AD203B41FA5}">
                      <a16:colId xmlns:a16="http://schemas.microsoft.com/office/drawing/2014/main" val="1689082951"/>
                    </a:ext>
                  </a:extLst>
                </a:gridCol>
                <a:gridCol w="1866569">
                  <a:extLst>
                    <a:ext uri="{9D8B030D-6E8A-4147-A177-3AD203B41FA5}">
                      <a16:colId xmlns:a16="http://schemas.microsoft.com/office/drawing/2014/main" val="3457162529"/>
                    </a:ext>
                  </a:extLst>
                </a:gridCol>
                <a:gridCol w="1901155">
                  <a:extLst>
                    <a:ext uri="{9D8B030D-6E8A-4147-A177-3AD203B41FA5}">
                      <a16:colId xmlns:a16="http://schemas.microsoft.com/office/drawing/2014/main" val="3633677029"/>
                    </a:ext>
                  </a:extLst>
                </a:gridCol>
                <a:gridCol w="1379122">
                  <a:extLst>
                    <a:ext uri="{9D8B030D-6E8A-4147-A177-3AD203B41FA5}">
                      <a16:colId xmlns:a16="http://schemas.microsoft.com/office/drawing/2014/main" val="2794577264"/>
                    </a:ext>
                  </a:extLst>
                </a:gridCol>
              </a:tblGrid>
              <a:tr h="1260130">
                <a:tc>
                  <a:txBody>
                    <a:bodyPr/>
                    <a:lstStyle/>
                    <a:p>
                      <a:pPr marL="194310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4310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4310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4310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71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71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71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US" sz="24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US" sz="24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marR="63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marR="63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marR="63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marR="635" algn="ctr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r>
                        <a:rPr lang="en-US" sz="2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955" marR="273050" indent="34925"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74955" marR="273050" indent="34925"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 Rate(%)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marR="103505" indent="635" algn="ctr">
                        <a:lnSpc>
                          <a:spcPts val="1380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0" marR="103505" indent="635" algn="ctr">
                        <a:lnSpc>
                          <a:spcPts val="1380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0" marR="103505" indent="635" algn="ctr">
                        <a:lnSpc>
                          <a:spcPts val="1380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 Violation </a:t>
                      </a:r>
                      <a:r>
                        <a:rPr lang="en-US" sz="2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1135767"/>
                  </a:ext>
                </a:extLst>
              </a:tr>
              <a:tr h="682634"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marR="635" algn="ctr">
                        <a:spcBef>
                          <a:spcPts val="5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3.612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2540" algn="ctr">
                        <a:spcBef>
                          <a:spcPts val="5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3.319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5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-1120439.98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635" algn="ctr">
                        <a:spcBef>
                          <a:spcPts val="5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81.72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2540" algn="ctr">
                        <a:spcBef>
                          <a:spcPts val="5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18.28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44470263"/>
                  </a:ext>
                </a:extLst>
              </a:tr>
              <a:tr h="682634"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25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2.539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2540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4.111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-39882.65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78.94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2540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21.06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39534984"/>
                  </a:ext>
                </a:extLst>
              </a:tr>
              <a:tr h="682634"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endParaRPr lang="en-US" sz="2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7945">
                        <a:lnSpc>
                          <a:spcPts val="1375"/>
                        </a:lnSpc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MAPPO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2.436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2540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3.243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3050.95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635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76.10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2540" algn="ctr">
                        <a:spcBef>
                          <a:spcPts val="10"/>
                        </a:spcBef>
                        <a:buNone/>
                      </a:pPr>
                      <a:r>
                        <a:rPr lang="en-US" sz="2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42070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49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E8152-770C-2D85-5D5D-E76B9EC1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FB33-F882-48B4-4B65-04A8A7FD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FINAL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27E50-80FE-8D09-EE15-6C6F9D5B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22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CAEE8C6-FC1D-171B-3CE2-80D5EE188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80" y="1061524"/>
            <a:ext cx="10266680" cy="473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Proximal Policy Optimization (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lowest latency (2.436)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gives low energy consumption (3.243)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achieves positive reward (3050.95)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gives highest success rate (81.72%)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has slightly lower success rate (76.1%)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has higher deadline violation (23.9%)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overall, MAPPO performs best</a:t>
            </a:r>
          </a:p>
        </p:txBody>
      </p:sp>
    </p:spTree>
    <p:extLst>
      <p:ext uri="{BB962C8B-B14F-4D97-AF65-F5344CB8AC3E}">
        <p14:creationId xmlns:p14="http://schemas.microsoft.com/office/powerpoint/2010/main" val="1923269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EAA8-D72E-1B27-F969-24FE703E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800CB-D5AB-14FC-48C0-A220C040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23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36206-AA55-4D19-E86C-20F6A13B0808}"/>
              </a:ext>
            </a:extLst>
          </p:cNvPr>
          <p:cNvSpPr txBox="1"/>
          <p:nvPr/>
        </p:nvSpPr>
        <p:spPr>
          <a:xfrm>
            <a:off x="629920" y="1255634"/>
            <a:ext cx="111861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rule-based method makes decisions using fixed conditions (if-else rules).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latency is high → offload to edge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edge is busy → send to cloud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→ process locally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249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D43A4-FE08-573D-AF15-24BDA798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2B91-9F70-0EDF-08B8-E53D2201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B5E9D-5CBA-C05A-01DD-1F6D421E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F6BF9-4CEE-769F-161E-937F40872908}"/>
              </a:ext>
            </a:extLst>
          </p:cNvPr>
          <p:cNvSpPr txBox="1"/>
          <p:nvPr/>
        </p:nvSpPr>
        <p:spPr>
          <a:xfrm>
            <a:off x="662940" y="1200024"/>
            <a:ext cx="1086612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success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chooses safe decisions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completing tasks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not optimized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send tasks to slower resources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negative reward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+ energy → large penalty</a:t>
            </a:r>
          </a:p>
        </p:txBody>
      </p:sp>
    </p:spTree>
    <p:extLst>
      <p:ext uri="{BB962C8B-B14F-4D97-AF65-F5344CB8AC3E}">
        <p14:creationId xmlns:p14="http://schemas.microsoft.com/office/powerpoint/2010/main" val="3205066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3FF0-B980-BFFA-3D71-121F5E59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7891-C420-4C48-E488-B7042F19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08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EAA7-0C7C-22AA-A68D-5B8DA2DE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25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E4C90-3FC2-39D1-8484-020CE29C9B2F}"/>
              </a:ext>
            </a:extLst>
          </p:cNvPr>
          <p:cNvSpPr txBox="1"/>
          <p:nvPr/>
        </p:nvSpPr>
        <p:spPr>
          <a:xfrm>
            <a:off x="838200" y="1486023"/>
            <a:ext cx="1067308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(Deep Q-Network)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is a single-agent reinforcement learning algorithm.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current state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action (local/edge/cloud)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reward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Q-values using neural network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Learns from experience over time.</a:t>
            </a:r>
          </a:p>
        </p:txBody>
      </p:sp>
    </p:spTree>
    <p:extLst>
      <p:ext uri="{BB962C8B-B14F-4D97-AF65-F5344CB8AC3E}">
        <p14:creationId xmlns:p14="http://schemas.microsoft.com/office/powerpoint/2010/main" val="2111236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EF358-A509-3F38-C0FA-341193C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4977-5B79-3FD1-DCF2-63724B8F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D0081-A63B-2DD4-569E-3CE91DF0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C2B42-29F9-45EE-A65C-D1B2D5E68848}"/>
              </a:ext>
            </a:extLst>
          </p:cNvPr>
          <p:cNvSpPr txBox="1"/>
          <p:nvPr/>
        </p:nvSpPr>
        <p:spPr>
          <a:xfrm>
            <a:off x="1026160" y="1797318"/>
            <a:ext cx="72034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2.539 (BETTER 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4.111 (HIGH 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-39882.65 (IMPROVED but negative)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78.94% (OK)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21.06% (MEDIUM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09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4EDE-E42F-49BA-A4E7-0C8949E7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DE97-41E5-5F75-5510-2076B243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60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927FD-1D8B-B637-AA67-560E0F65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12A70-A33D-4503-58EA-BCB07737B7B3}"/>
              </a:ext>
            </a:extLst>
          </p:cNvPr>
          <p:cNvSpPr txBox="1"/>
          <p:nvPr/>
        </p:nvSpPr>
        <p:spPr>
          <a:xfrm>
            <a:off x="838200" y="948690"/>
            <a:ext cx="91897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latency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faster execution decisions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energy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overuse edge/cloud resources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 still negative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not fully optimized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problem not solved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success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than random but not stable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67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3FBC-3BE5-3CB7-D019-7472256C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4378-0190-1D6B-B715-EAAD95F5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60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48F03-8648-889B-E4A4-1F958125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854A4-AC5E-DFBD-101C-E9768BEF7530}"/>
              </a:ext>
            </a:extLst>
          </p:cNvPr>
          <p:cNvSpPr txBox="1"/>
          <p:nvPr/>
        </p:nvSpPr>
        <p:spPr>
          <a:xfrm>
            <a:off x="838200" y="972965"/>
            <a:ext cx="959612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MAPPO (Multi-Agent PPO)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MAPPO is a multi-agent reinforcement learning algorithm.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vehicle = agent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agents learn together (centralized training)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act independently (decentralized execution)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optimization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critic (global knowledge)</a:t>
            </a:r>
          </a:p>
        </p:txBody>
      </p:sp>
    </p:spTree>
    <p:extLst>
      <p:ext uri="{BB962C8B-B14F-4D97-AF65-F5344CB8AC3E}">
        <p14:creationId xmlns:p14="http://schemas.microsoft.com/office/powerpoint/2010/main" val="135897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3D4A-A902-A5D2-344D-DC9D3A20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096B-A82D-99DC-68AF-293944DC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60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JUSTIFICATION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63147-28A6-AA40-2E16-3F07B48D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29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915FF55-513F-D3A1-5130-F894B0A11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" y="1115282"/>
            <a:ext cx="6309360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2.436 (LOWEST 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3.243 (LOWEST 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3050.95 (BEST 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76.1% (LOWER)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Deadline: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23.9% (HIGHER)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6988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7073-E031-4FC6-BB84-96BB769F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EC6A3-FAFB-36AF-A02B-7C2D44BE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8ACE6-B6C2-A228-68C1-D769553C0784}"/>
              </a:ext>
            </a:extLst>
          </p:cNvPr>
          <p:cNvSpPr txBox="1"/>
          <p:nvPr/>
        </p:nvSpPr>
        <p:spPr>
          <a:xfrm>
            <a:off x="182880" y="0"/>
            <a:ext cx="12649200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latency?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coordinate decisions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congestion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energy?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resource usage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reward?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of all metrics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success rate and higher deadline violation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focus only on completion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overall system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drops/delays tasks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Chooses efficiency over strict completion</a:t>
            </a:r>
          </a:p>
        </p:txBody>
      </p:sp>
    </p:spTree>
    <p:extLst>
      <p:ext uri="{BB962C8B-B14F-4D97-AF65-F5344CB8AC3E}">
        <p14:creationId xmlns:p14="http://schemas.microsoft.com/office/powerpoint/2010/main" val="2050584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12C9-EF3A-E393-5C09-58752CD1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A674-10ED-6737-7709-A6617420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DECISION DISTRIBUTION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78BC0-9BE5-07FC-BE73-80D5AE8F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D9A-FF45-4ED2-ABE1-857E9C5375BC}" type="datetime3">
              <a:rPr lang="en-IN" smtClean="0"/>
              <a:t>6 August 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6FBB4-4F7F-F551-4C20-E513B465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9EF70E-5ABB-0E07-CE56-F5F7F53BE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88" y="1498122"/>
            <a:ext cx="5852172" cy="4389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87AE4F-61EA-6CC2-1A21-F0022A3C9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4" y="148240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50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CCC0-4363-EDC7-3437-A73029F4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BBDC-DBFA-0A4D-76E7-B22C3889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6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DECISION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92AE5-CB69-4B0A-D609-D4D45AA2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A33D3-AE1E-7ABA-BD02-9EDC3A705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14" y="1214115"/>
            <a:ext cx="5648960" cy="502031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D23442DD-ECD1-FC90-FDB3-918C8E07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27" y="878529"/>
            <a:ext cx="5648960" cy="584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how often each method selects Local, Edge, or Cloud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method mostly follows fixed patterns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tries different options and learns over time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balances all options efficiently .It avoids overusing one resource and This shows how smart the decision-making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80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D258-7FEF-0E36-5437-39712593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7728-34D0-42A3-8039-53C61265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LATENCY ANALYSIS: BOXPLOT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22E6-1D35-2AC0-C3DF-7A4882CB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FCAEB-D4C9-8044-BBB0-A063953E4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4" y="1690688"/>
            <a:ext cx="10353046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31F6-F324-7807-9638-DB339E272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82F9-7907-A434-7C32-4480441D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ANALYSIS: CDF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6F6E7-657E-39EE-609A-E2A89E2D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205B8-46E0-CD3E-72AB-27F72B7AA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1828954"/>
            <a:ext cx="10403840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55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9D49-E0D2-651E-C480-30AA040F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734F-BFF1-14C3-E620-43AAE033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8A10-F19E-6641-4885-CD73F7093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35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5DB964-8863-3ECA-310F-F74836CFC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465" y="1027906"/>
            <a:ext cx="10368455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delay in task execution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Boxplot shows variation in latency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CDF shows how fast tasks are completed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has higher delay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reduces delay but is not stable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gives lowest and more stable latency .This means faster task execution </a:t>
            </a:r>
          </a:p>
        </p:txBody>
      </p:sp>
    </p:spTree>
    <p:extLst>
      <p:ext uri="{BB962C8B-B14F-4D97-AF65-F5344CB8AC3E}">
        <p14:creationId xmlns:p14="http://schemas.microsoft.com/office/powerpoint/2010/main" val="4226312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4FBB-4461-AC49-54B7-5C1E1BA5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EB50-94B2-78D0-1E0F-C14545D7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PERFORMANCE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89500-F81C-9A16-CE1D-6CF21DEF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73024-D2D4-969F-1FF1-EC6626132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114" y="1404017"/>
            <a:ext cx="5161286" cy="505524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042BA91-4C3F-E593-88B3-78C82CD70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34" y="1437635"/>
            <a:ext cx="6405880" cy="473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compares latency, energy, and success rate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gives high success but poor efficiency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improves latency but uses more energy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gives best balance between all metrics. It reduces delay and energy together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shows overall system improvement </a:t>
            </a:r>
          </a:p>
        </p:txBody>
      </p:sp>
    </p:spTree>
    <p:extLst>
      <p:ext uri="{BB962C8B-B14F-4D97-AF65-F5344CB8AC3E}">
        <p14:creationId xmlns:p14="http://schemas.microsoft.com/office/powerpoint/2010/main" val="2562069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7030-8709-021D-24D2-D59FF0B9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69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REWARD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4E0E-EAB0-C729-686C-4208EEF8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37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D389AC-801B-A9F1-C29E-48A93D2F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40" y="1253645"/>
            <a:ext cx="6055360" cy="510270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FC61B9D7-1716-92CA-BB04-5A1FF9FB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28" y="1547260"/>
            <a:ext cx="692912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 represents overall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latency, energy, and success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has very high negative reward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improves reward but still negative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gives positive reward and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shows MAPPO learns better decisions </a:t>
            </a:r>
          </a:p>
        </p:txBody>
      </p:sp>
    </p:spTree>
    <p:extLst>
      <p:ext uri="{BB962C8B-B14F-4D97-AF65-F5344CB8AC3E}">
        <p14:creationId xmlns:p14="http://schemas.microsoft.com/office/powerpoint/2010/main" val="4126886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DF7E0-BD23-DDCF-5843-E114E594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38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C4F399-DBEB-0699-BE99-6EE91197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RADAR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63723-8C23-580B-E356-A388F9D1B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8" r="7574"/>
          <a:stretch>
            <a:fillRect/>
          </a:stretch>
        </p:blipFill>
        <p:spPr>
          <a:xfrm>
            <a:off x="6388100" y="751202"/>
            <a:ext cx="5415280" cy="535559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0BCD7009-386D-AEE3-8FED-C2CE5DC28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" y="1462088"/>
            <a:ext cx="638810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all metrics in one view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axis represents one performance metric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is strong only in success rate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DQN is moderate in all metrics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MAPPO shows balanced performance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in all areas </a:t>
            </a:r>
          </a:p>
        </p:txBody>
      </p:sp>
    </p:spTree>
    <p:extLst>
      <p:ext uri="{BB962C8B-B14F-4D97-AF65-F5344CB8AC3E}">
        <p14:creationId xmlns:p14="http://schemas.microsoft.com/office/powerpoint/2010/main" val="1657556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C0A8-2207-A7B2-C5A8-2FBD17AD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12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B2982-B324-C71D-94E7-036AA2EA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B9228-BA8F-415A-9FB8-23BEB3CED671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08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17177</TotalTime>
  <Words>1846</Words>
  <Application>Microsoft Office PowerPoint</Application>
  <PresentationFormat>Widescreen</PresentationFormat>
  <Paragraphs>366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Office Theme</vt:lpstr>
      <vt:lpstr>OPTIMIZING TASK OFFLOADING IN AUTONOMOUS VEHICULAR NETWORKS USING MULTI-AGENT REINFORCEMENT LEARNING </vt:lpstr>
      <vt:lpstr>INTRODUCTION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DIAGRAM</vt:lpstr>
      <vt:lpstr>1. SUMO SIMULATION </vt:lpstr>
      <vt:lpstr>TIRUNELVELI MAP AND CAR GENERATION </vt:lpstr>
      <vt:lpstr>2. DATA COLLECTION   </vt:lpstr>
      <vt:lpstr>DATA COLLECTION </vt:lpstr>
      <vt:lpstr>3. ALGORITHM USED: </vt:lpstr>
      <vt:lpstr>4. TASK OFFLOADING DECESION </vt:lpstr>
      <vt:lpstr>PowerPoint Presentation</vt:lpstr>
      <vt:lpstr>5. PERFORMANCE METRICS</vt:lpstr>
      <vt:lpstr>5. PERFORMANCE METRICS</vt:lpstr>
      <vt:lpstr>6. FINAL RESULTS</vt:lpstr>
      <vt:lpstr>6. FINAL RESULTS</vt:lpstr>
      <vt:lpstr>RESULT JUSTIFICATION </vt:lpstr>
      <vt:lpstr>RESULT JUSTIFICATION </vt:lpstr>
      <vt:lpstr>RESULT JUSTIFICATION </vt:lpstr>
      <vt:lpstr>RESULT JUSTIFICATION </vt:lpstr>
      <vt:lpstr>RESULT JUSTIFICATION </vt:lpstr>
      <vt:lpstr>RESULT JUSTIFICATION </vt:lpstr>
      <vt:lpstr>RESULT JUSTIFICATION </vt:lpstr>
      <vt:lpstr>PowerPoint Presentation</vt:lpstr>
      <vt:lpstr>7. DECISION DISTRIBUTION</vt:lpstr>
      <vt:lpstr>7. DECISION DISTRIBUTION</vt:lpstr>
      <vt:lpstr>8. LATENCY ANALYSIS: BOXPLOT</vt:lpstr>
      <vt:lpstr>LATENCY ANALYSIS: CDF</vt:lpstr>
      <vt:lpstr>LATENCY ANALYSIS</vt:lpstr>
      <vt:lpstr>9. PERFORMANCE COMPARISON</vt:lpstr>
      <vt:lpstr>10. REWARD ANALYSIS</vt:lpstr>
      <vt:lpstr>11. RADAR CHART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난디 💜</dc:creator>
  <cp:lastModifiedBy>Sindhu S</cp:lastModifiedBy>
  <cp:revision>31</cp:revision>
  <dcterms:created xsi:type="dcterms:W3CDTF">2024-08-29T13:16:27Z</dcterms:created>
  <dcterms:modified xsi:type="dcterms:W3CDTF">2026-08-05T18:38:11Z</dcterms:modified>
</cp:coreProperties>
</file>